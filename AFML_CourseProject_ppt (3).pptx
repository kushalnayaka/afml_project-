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01" r:id="rId3"/>
    <p:sldId id="258" r:id="rId4"/>
    <p:sldId id="290" r:id="rId5"/>
    <p:sldId id="291" r:id="rId6"/>
    <p:sldId id="292" r:id="rId7"/>
    <p:sldId id="303" r:id="rId8"/>
    <p:sldId id="293" r:id="rId9"/>
    <p:sldId id="304" r:id="rId10"/>
    <p:sldId id="294" r:id="rId11"/>
    <p:sldId id="296" r:id="rId12"/>
    <p:sldId id="295" r:id="rId13"/>
    <p:sldId id="297" r:id="rId14"/>
    <p:sldId id="300" r:id="rId15"/>
    <p:sldId id="284" r:id="rId1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r9t/zlH0+U33JGxe/pMkYlLI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110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D973BD-312F-BF05-65C9-E7104D4E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24D2BFF-8D34-87D2-4CCA-00B6EC87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189D0FD4-036F-E0CC-EE6C-BFA0A047D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832D377-4388-2BA8-0DE3-E9460B2F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5F5AE50B-011F-E077-A718-A49DEC0A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3473D31-B19B-801E-8DCE-5EF67752A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6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A6363E-96AF-5983-1BDC-02B1EE0E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13B905A7-5347-6E84-1101-346F5F901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ACE44ECB-D30A-EBD4-075E-4AD9FF16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7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EF98A9-247C-5572-7ACC-B260F7AB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A5793D0-F4E6-99AD-3C6E-340CF61F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CE24BE0-889E-9406-830C-4C95D5836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849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523994F-C7DF-BE7C-E0F8-A384A4C7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C7ABDF6-7AAA-5FEB-07A9-1C403B9B8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EAA6B12-D5AD-7173-CBD2-AC7FD3D68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9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13B1C37-67EB-9285-DF99-F847A786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409A335-E73B-B76E-59C9-523FFC50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475786B8-928E-5EF2-88AB-DEDAE2C7A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9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8B98FC-B266-728F-7852-DBB8B6B9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3BBCF11-1421-942F-C5DD-43C9EC0FA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D420C06D-B46A-EB14-2B5A-9059010E7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579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7B937F9-890A-07F8-10E3-42EDF8E1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3F450D-2A76-9670-7146-428BD52F4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6CD25F5-A23A-7DD5-2993-10CFAF10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844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4783073" y="2622363"/>
            <a:ext cx="5731160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IN" sz="3200" b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Time-series Financial Risk Modeling from Sequential Medical Images</a:t>
            </a:r>
            <a:endParaRPr sz="3200" b="1" i="0" u="none" strike="noStrike" cap="none" dirty="0">
              <a:solidFill>
                <a:schemeClr val="bg2">
                  <a:lumMod val="75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 extrusionOk="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783073" y="411251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120000" extrusionOk="0">
                <a:moveTo>
                  <a:pt x="0" y="0"/>
                </a:moveTo>
                <a:lnTo>
                  <a:pt x="4581448" y="0"/>
                </a:lnTo>
              </a:path>
            </a:pathLst>
          </a:custGeom>
          <a:noFill/>
          <a:ln w="381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979" y="1606296"/>
            <a:ext cx="2369820" cy="35493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 extrusionOk="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80"/>
                </a:lnTo>
                <a:lnTo>
                  <a:pt x="1066800" y="1077480"/>
                </a:lnTo>
                <a:lnTo>
                  <a:pt x="1066800" y="45720"/>
                </a:lnTo>
                <a:lnTo>
                  <a:pt x="1066800" y="1068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D0343AAB-DD93-C3D1-54CE-50720CB562AF}"/>
              </a:ext>
            </a:extLst>
          </p:cNvPr>
          <p:cNvSpPr/>
          <p:nvPr/>
        </p:nvSpPr>
        <p:spPr>
          <a:xfrm>
            <a:off x="4438740" y="4370881"/>
            <a:ext cx="581297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0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MANOJ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              –  PES1UG23AM166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ctr">
              <a:buSzPts val="2000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KUSHAL KUMAR G   –  PES1UG23AM156  </a:t>
            </a:r>
          </a:p>
          <a:p>
            <a:pPr algn="ctr">
              <a:buSzPts val="2000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MANUPRASAD H S  – PES1UG23AM167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IN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E4CC22FB-453C-4823-29A6-1004DCC31E13}"/>
              </a:ext>
            </a:extLst>
          </p:cNvPr>
          <p:cNvSpPr/>
          <p:nvPr/>
        </p:nvSpPr>
        <p:spPr>
          <a:xfrm>
            <a:off x="4114799" y="667203"/>
            <a:ext cx="749721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Advanced Foundations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Machine Learning Course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F66C97-A123-16D9-3675-51953D65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0D953A79-E8E5-1574-4D09-11AC985783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5B49E40-DFE4-C76B-04A8-9485B5C6CDF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0C333222-57A3-F5A5-1774-C5449A71473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00A8410D-5C53-855F-2C34-6C72A040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Submission Checklist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C78F10-45E7-6395-FC2F-020A9D561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495765"/>
              </p:ext>
            </p:extLst>
          </p:nvPr>
        </p:nvGraphicFramePr>
        <p:xfrm>
          <a:off x="422687" y="1653702"/>
          <a:ext cx="10981305" cy="38741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93256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Drive Shared ( 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notebook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or 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PPT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5 mins Video presenting your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Brief Project Report in IEEE Format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66DE3D-B9B0-5802-D719-2C6CC78F83AF}"/>
              </a:ext>
            </a:extLst>
          </p:cNvPr>
          <p:cNvSpPr txBox="1"/>
          <p:nvPr/>
        </p:nvSpPr>
        <p:spPr>
          <a:xfrm>
            <a:off x="393111" y="6046627"/>
            <a:ext cx="731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Mention the </a:t>
            </a:r>
            <a:r>
              <a:rPr lang="en-IN" b="1" dirty="0"/>
              <a:t>email-ids</a:t>
            </a:r>
            <a:r>
              <a:rPr lang="en-IN" dirty="0"/>
              <a:t> you shared the drive with ( your course TAs and your faculty) </a:t>
            </a:r>
          </a:p>
        </p:txBody>
      </p:sp>
    </p:spTree>
    <p:extLst>
      <p:ext uri="{BB962C8B-B14F-4D97-AF65-F5344CB8AC3E}">
        <p14:creationId xmlns:p14="http://schemas.microsoft.com/office/powerpoint/2010/main" val="8136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393111" y="1574150"/>
            <a:ext cx="10252683" cy="555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r>
              <a:rPr lang="en-IN" sz="1800" dirty="0"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r>
              <a:rPr lang="en-IN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Hospitals and insurance companies struggle to </a:t>
            </a: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predict financial risk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for patients with progressive diseases.</a:t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Currently:</a:t>
            </a: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No model links </a:t>
            </a:r>
            <a:r>
              <a:rPr lang="en-US" sz="18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disease progression over time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with </a:t>
            </a:r>
            <a:r>
              <a:rPr lang="en-US" sz="18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future treatment cost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Manual financial estimation leads to errors in budgeting and premium planning.</a:t>
            </a:r>
          </a:p>
          <a:p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Problem Definition:</a:t>
            </a: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We design a deep learning pipeline that:</a:t>
            </a: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Uses </a:t>
            </a: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sequential medical images (e.g., Chest X-rays)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Extracts disease progression information using a </a:t>
            </a: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Vision Transformer encoder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Models time dependency using a </a:t>
            </a: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Transformer / LSTM layer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Predicts:</a:t>
            </a:r>
          </a:p>
          <a:p>
            <a:pPr lvl="1"/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Survival probability</a:t>
            </a:r>
          </a:p>
          <a:p>
            <a:pPr lvl="1"/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Mean Time to Event (MTTE)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Expected Loss (EL)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for a given time T</a:t>
            </a:r>
          </a:p>
          <a:p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Goal: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Predict patient-specific future financial risk.</a:t>
            </a:r>
          </a:p>
          <a:p>
            <a:endParaRPr lang="en-US" sz="1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sz="1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sz="1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6600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D013FFEC-E891-3EDF-F0DA-71F1331D198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35085630-386F-E457-D5C1-609874478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BA7AC88-1880-9D8A-4335-B759DFCD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702CBD9C-3D2A-A1F2-7C5F-B49EFDB31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5512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4DCDD19-53C3-87CE-748C-05EFC6C7A89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85D3FEDD-A6E1-092E-5F12-CD01AB1A54E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04DE4BB-AB6C-616F-CDF7-48938B17D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Uniqueness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3A041E-7998-90BB-2F8D-AC89071BF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7" y="1703154"/>
            <a:ext cx="10255473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Novel Data Modality: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This is the first framework to bridge computer vision (longitudinal X-rays) directly with financial risk modeling (Actuarial Science).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"Visual Velocity" Phenotype: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We introduce the concept of "Visual Velocity"—measuring the speed of disease progression from images to predict ICU admission risks..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Dual-Stage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Unlike standard CNNs, we use a Vision Transformer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 backbone for spatial features and a Temporal Transformer for time-series aggregation.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Financial Mapping: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We derive tangible financial metrics (Expected Loss in $) directly from the probabilistic survival curves S(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t|x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28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9FFD4AB-2AD2-12F6-E85B-93971A82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0E528B6-696B-2650-3333-9EC22089D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4D9B295-86C2-6340-33EA-B4352902F3C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E0522782-DA93-B7F1-B867-AB6F822D54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5BA688B-29D9-1AF4-8378-FE693318A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Dataset 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344AE3-A368-0834-882C-F0ADFC23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11" y="1574150"/>
            <a:ext cx="993648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Source: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MIMIC-CXR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(Radiographs) linked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MIMIC-IV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(Clinical outcomes).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~4,500 unique patient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Inclusion Criteria: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Patients with at least 3 sequential X-rays within a 6-month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Synthetic cost logs generated based on DRG (Diagnosis-Related Groups) codes due to privacy constraints on real billing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Definition: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ICU admission or diagnosis of ARDS (Acute Respiratory Distress Syndrome).</a:t>
            </a:r>
          </a:p>
        </p:txBody>
      </p:sp>
    </p:spTree>
    <p:extLst>
      <p:ext uri="{BB962C8B-B14F-4D97-AF65-F5344CB8AC3E}">
        <p14:creationId xmlns:p14="http://schemas.microsoft.com/office/powerpoint/2010/main" val="2778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7EC55C4B-DD52-B0F6-9316-0767438D10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Overall Design or Approach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2C73B-91A1-1004-F63A-9D38F634A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7" y="1336547"/>
            <a:ext cx="10031049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A sequence of Chest X-ray images ($I_1, I_2, ... I_L$) representing patient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Stage 1 (Spatial):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Each image passes through 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-B/16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(Vision Transformer) to extract a 768-dim latent vector.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Stage 2 (Temporal):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The sequence of vectors passes through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Transformer Encoder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with Multi-Head Self-Attention to capture long-term dependencies and disease trajectory.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Stage 3 (Survival Head):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Deep Cox-Time Head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predicts the log-risk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Survival Curve S(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t|x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Converted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Expected Loss ($)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Clinical Triage Level.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361CCE45-74DF-9D29-D72C-5166AA1816EE}"/>
              </a:ext>
            </a:extLst>
          </p:cNvPr>
          <p:cNvSpPr txBox="1"/>
          <p:nvPr/>
        </p:nvSpPr>
        <p:spPr>
          <a:xfrm>
            <a:off x="602344" y="1485900"/>
            <a:ext cx="10092870" cy="481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Sequential X-Ray Images (t1, t2, t3...) 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│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▼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Vision Transformer (Feature Extractor)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│  → Embeddings (z1, z2, z3...)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▼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Time-Series Transformer / LSTM Layer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│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▼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Survival Head → S(</a:t>
            </a:r>
            <a:r>
              <a:rPr lang="en-US" sz="24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t|z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Risk Head → MTTE</a:t>
            </a:r>
          </a:p>
          <a:p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Financial Head → Expected Loss (EL)</a:t>
            </a:r>
          </a:p>
          <a:p>
            <a:endParaRPr lang="en-US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7EC55C4B-DD52-B0F6-9316-0767438D10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Architecture Diagram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5A488FBA-7054-6E2B-D44E-F8DA201FE6AA}"/>
              </a:ext>
            </a:extLst>
          </p:cNvPr>
          <p:cNvSpPr txBox="1"/>
          <p:nvPr/>
        </p:nvSpPr>
        <p:spPr>
          <a:xfrm>
            <a:off x="292100" y="1564640"/>
            <a:ext cx="10252683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28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9F60E43-44F7-8816-4C34-0AF90A8DD43A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AE59C79-5917-D4CC-85F9-3E9FDD28162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AFDC6-A4ED-9EFC-C889-6E707BC5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10" y="1753448"/>
            <a:ext cx="101092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proposed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-Transformer model significantly outperformed baselines.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Concordance Index (C-Index):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0.744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(Proposed) vs.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0.621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(Standard Cox-PH).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MAE (Mean Absolute Error):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error from $4,500 (Baseline)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$2,150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(Proposed).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Ablation Study: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Removing the Temporal Transformer (using Mean Pooling) dropped accuracy to 0.690, proving the importance of modeling time-series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survival curves successfully group patients into "ICU Critical" vs. "Stable Ward" based on predicted risk [Notebook Cell 7].</a:t>
            </a:r>
          </a:p>
        </p:txBody>
      </p:sp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9F60E43-44F7-8816-4C34-0AF90A8DD43A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AE59C79-5917-D4CC-85F9-3E9FDD28162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Future Works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73529" y="1714501"/>
            <a:ext cx="101538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1.Add EHR data (labs, vitals, diagnosis codes).</a:t>
            </a:r>
          </a:p>
          <a:p>
            <a:b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2.Use real financial datasets from hospitals.</a:t>
            </a:r>
          </a:p>
          <a:p>
            <a:b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3.Develop explainability via attention maps.</a:t>
            </a:r>
          </a:p>
          <a:p>
            <a:b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4.Explore custom survival loss functions (</a:t>
            </a:r>
            <a:r>
              <a:rPr lang="en-US" sz="2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DeepSurv</a:t>
            </a: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, AFT models).</a:t>
            </a:r>
          </a:p>
          <a:p>
            <a:b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5.Deploy as a web-based cost-prediction system.</a:t>
            </a:r>
          </a:p>
          <a:p>
            <a:endParaRPr lang="en-US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5ED29E1-7F97-3743-6432-730899D4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4B8854A-06C7-CD7F-ADCA-DE649E5E43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63034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FFD2902-0F0E-0141-DD58-44978C3C947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59724F00-ABB5-2DED-169E-A35FE757A46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B8B40EF-CE1D-E89D-40DE-0E7C616B4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Done vs. Remaining to be done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940E85-F47A-D502-B749-0A7C824D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42786"/>
              </p:ext>
            </p:extLst>
          </p:nvPr>
        </p:nvGraphicFramePr>
        <p:xfrm>
          <a:off x="422687" y="1997963"/>
          <a:ext cx="10981305" cy="40935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 or To be Done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Longitudinal Data Pipeline:</a:t>
                      </a:r>
                      <a:r>
                        <a:rPr lang="en-US" sz="2000" dirty="0"/>
                        <a:t> Parsing filenames to create patient image sequences.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Model Architecture:</a:t>
                      </a:r>
                      <a:r>
                        <a:rPr lang="en-IN" sz="2000" dirty="0"/>
                        <a:t> Implementing </a:t>
                      </a:r>
                      <a:r>
                        <a:rPr lang="en-IN" sz="2000" dirty="0" err="1"/>
                        <a:t>ViT</a:t>
                      </a:r>
                      <a:r>
                        <a:rPr lang="en-IN" sz="2000" dirty="0"/>
                        <a:t> backbone + Temporal Transformer + Cox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Training Loop:</a:t>
                      </a:r>
                      <a:r>
                        <a:rPr lang="en-US" sz="2000" dirty="0"/>
                        <a:t> Implementing Early Stopping and Gradient Clipping.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Financial Actuarial Module:</a:t>
                      </a:r>
                      <a:r>
                        <a:rPr lang="en-US" sz="2000" dirty="0"/>
                        <a:t> Mapping survival probabilities to Expected Loss ($).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Real-time Hospital Deployment:</a:t>
                      </a:r>
                      <a:r>
                        <a:rPr lang="en-US" sz="2000" dirty="0"/>
                        <a:t> Integration with live PACS systems.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To be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1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00A384D-4A29-FE2F-9ED1-A067440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8221108-3C46-1BDC-AFA1-A811217E2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8D7660F-1C23-D554-0A1B-95F4BCB1580E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ABAE4D7E-E300-E8AC-0359-8E70DA9CB34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89E26273-B356-6D8D-C3FF-0EE6E3E41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Who did what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4D2F6-CA64-8510-4AA5-6E7A59A2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289343"/>
              </p:ext>
            </p:extLst>
          </p:nvPr>
        </p:nvGraphicFramePr>
        <p:xfrm>
          <a:off x="422687" y="1597853"/>
          <a:ext cx="10981305" cy="50079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Contributed By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Literature Survey &amp; Problem Formulation:</a:t>
                      </a:r>
                      <a:r>
                        <a:rPr lang="en-US" sz="2000" dirty="0"/>
                        <a:t> Identified the gap in financial modeling using static vs. dynamic data.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Kushal Kumar G, Manoj R, Manu Prasad 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Data Engineering:</a:t>
                      </a:r>
                      <a:r>
                        <a:rPr lang="en-US" sz="2000" dirty="0"/>
                        <a:t> Handled MIMIC-CXR linkage, sequence generation, and synthetic financial log creation.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Kushal Kumar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 Implementation:</a:t>
                      </a:r>
                      <a:r>
                        <a:rPr lang="en-US" sz="2000" dirty="0"/>
                        <a:t> Coded the </a:t>
                      </a:r>
                      <a:r>
                        <a:rPr lang="en-US" sz="2000" dirty="0" err="1"/>
                        <a:t>ViT</a:t>
                      </a:r>
                      <a:r>
                        <a:rPr lang="en-US" sz="2000" dirty="0"/>
                        <a:t>-Transformer architecture and the Custom Dataset class in </a:t>
                      </a:r>
                      <a:r>
                        <a:rPr lang="en-US" sz="2000" dirty="0" err="1"/>
                        <a:t>PyTorch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Kushal Kumar G, Manoj R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Survival Analysis Integration:</a:t>
                      </a:r>
                      <a:r>
                        <a:rPr lang="en-US" sz="2000" dirty="0"/>
                        <a:t> Implemented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pycox</a:t>
                      </a:r>
                      <a:r>
                        <a:rPr lang="en-US" sz="2000" dirty="0"/>
                        <a:t> loss functions, baseline hazard estimation, and evaluation metrics.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Manu Prasad 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Financial Metrics &amp; Visualization:</a:t>
                      </a:r>
                      <a:r>
                        <a:rPr lang="en-US" sz="2000" dirty="0"/>
                        <a:t> Created the logic for Expected Loss (EL) calculation and final plotting.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Manoj R, Manu Prasad 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6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B208BD-A2EA-1D2E-569F-05C92B1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8D4768-734E-4568-6F4F-F254DFAA0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2CFE7EFE-4948-17F2-AB9F-CEDDFA7F35C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CCD8FA1A-2C3A-C2D3-126B-33BC5C6C51F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A083361-555A-F108-BBA0-4B3F49BF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Quantity and Quality of Work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FF1C5-C58E-EE62-06C8-8126A3A7D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843646"/>
              </p:ext>
            </p:extLst>
          </p:nvPr>
        </p:nvGraphicFramePr>
        <p:xfrm>
          <a:off x="0" y="1574150"/>
          <a:ext cx="12120665" cy="4831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77">
                  <a:extLst>
                    <a:ext uri="{9D8B030D-6E8A-4147-A177-3AD203B41FA5}">
                      <a16:colId xmlns:a16="http://schemas.microsoft.com/office/drawing/2014/main" val="2897803363"/>
                    </a:ext>
                  </a:extLst>
                </a:gridCol>
                <a:gridCol w="4280170">
                  <a:extLst>
                    <a:ext uri="{9D8B030D-6E8A-4147-A177-3AD203B41FA5}">
                      <a16:colId xmlns:a16="http://schemas.microsoft.com/office/drawing/2014/main" val="3715099944"/>
                    </a:ext>
                  </a:extLst>
                </a:gridCol>
                <a:gridCol w="2437752">
                  <a:extLst>
                    <a:ext uri="{9D8B030D-6E8A-4147-A177-3AD203B41FA5}">
                      <a16:colId xmlns:a16="http://schemas.microsoft.com/office/drawing/2014/main" val="893068887"/>
                    </a:ext>
                  </a:extLst>
                </a:gridCol>
                <a:gridCol w="2424133">
                  <a:extLst>
                    <a:ext uri="{9D8B030D-6E8A-4147-A177-3AD203B41FA5}">
                      <a16:colId xmlns:a16="http://schemas.microsoft.com/office/drawing/2014/main" val="4267769587"/>
                    </a:ext>
                  </a:extLst>
                </a:gridCol>
                <a:gridCol w="2424133">
                  <a:extLst>
                    <a:ext uri="{9D8B030D-6E8A-4147-A177-3AD203B41FA5}">
                      <a16:colId xmlns:a16="http://schemas.microsoft.com/office/drawing/2014/main" val="885006999"/>
                    </a:ext>
                  </a:extLst>
                </a:gridCol>
              </a:tblGrid>
              <a:tr h="718660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Runs w/o Issues ( Y 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State minor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531006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End-to-end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Reliance on </a:t>
                      </a:r>
                      <a:r>
                        <a:rPr lang="en-US" sz="2000" b="1" dirty="0"/>
                        <a:t>synthetic financial data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72334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Deep Model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22078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Model Training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84201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Actuarial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11770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03321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927893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08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0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CEF127C-5D96-6FDF-0824-AC0C2020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19434A6-F465-C405-A9EE-24E3520BB2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37E285E-376C-660E-1F1D-09B4227A20D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F4C073CD-1A01-6D50-2B55-8DFEA4B876B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8C10F9B-D2D8-FCE9-636F-B0D5D960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Few Learnings from this Project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AF4B5-CC14-3FA1-9514-1FBFDA9B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275020"/>
              </p:ext>
            </p:extLst>
          </p:nvPr>
        </p:nvGraphicFramePr>
        <p:xfrm>
          <a:off x="422687" y="1997963"/>
          <a:ext cx="11104590" cy="35298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Learned how </a:t>
                      </a:r>
                      <a:r>
                        <a:rPr lang="en-US" sz="2000" b="1" dirty="0"/>
                        <a:t>Transformers</a:t>
                      </a:r>
                      <a:r>
                        <a:rPr lang="en-US" sz="2000" dirty="0"/>
                        <a:t> work for sequential data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Understood </a:t>
                      </a:r>
                      <a:r>
                        <a:rPr lang="en-US" sz="2000" b="1" dirty="0"/>
                        <a:t>survival analysis</a:t>
                      </a:r>
                      <a:r>
                        <a:rPr lang="en-US" sz="2000" dirty="0"/>
                        <a:t> and MTTE modeling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Connected ML predictions with </a:t>
                      </a:r>
                      <a:r>
                        <a:rPr lang="en-US" sz="2000" b="1" dirty="0"/>
                        <a:t>financial risk metrics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Discovered challenges of handling medical datasets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Learned end-to-end ML pipeline building (images → sequences → finance)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370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48A601-BD1B-2FC6-6D4E-6013B647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720601-0D54-E16F-1F58-492B181F5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B1E558E-7C2F-69F6-D632-A187019E871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95E62858-51D2-BFAF-9BCA-0883DE413CD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C2750D0C-4893-9DF5-E491-EB010FB38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D55FC-0E32-C06C-130A-6F1823F8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795277"/>
              </p:ext>
            </p:extLst>
          </p:nvPr>
        </p:nvGraphicFramePr>
        <p:xfrm>
          <a:off x="604157" y="1997963"/>
          <a:ext cx="10799835" cy="3779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5982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423908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59994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379465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48336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Predictive Modeling of Hospital Costs from Medical Imaging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483360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Time-Series Models in Healthcare: Forecasting Costs and Outcomes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379465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Deep Learning for Medical Image Analysis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37946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37946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  <a:tr h="37946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90993"/>
                  </a:ext>
                </a:extLst>
              </a:tr>
              <a:tr h="37946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63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07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9"/>
          <p:cNvCxnSpPr/>
          <p:nvPr/>
        </p:nvCxnSpPr>
        <p:spPr>
          <a:xfrm rot="10800000" flipH="1">
            <a:off x="4417036" y="2862364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4335037" y="406548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4" name="Google Shape;324;p29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29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4263561" y="1949847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335037" y="303304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 2025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335037" y="3549286"/>
            <a:ext cx="85430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1173</Words>
  <Application>Microsoft Office PowerPoint</Application>
  <PresentationFormat>Widescreen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Submission Checklist </vt:lpstr>
      <vt:lpstr>Problem Statement</vt:lpstr>
      <vt:lpstr>Uniqueness</vt:lpstr>
      <vt:lpstr>Dataset </vt:lpstr>
      <vt:lpstr>Overall Design or Approach</vt:lpstr>
      <vt:lpstr>Architecture Diagram</vt:lpstr>
      <vt:lpstr>Final Results</vt:lpstr>
      <vt:lpstr>Future Works</vt:lpstr>
      <vt:lpstr>Features : Done vs. Remaining to be done</vt:lpstr>
      <vt:lpstr>Features : Who did what </vt:lpstr>
      <vt:lpstr>Quantity and Quality of Work </vt:lpstr>
      <vt:lpstr>Top Few Learnings from this Project</vt:lpstr>
      <vt:lpstr>References, if any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Bhaskar</dc:creator>
  <cp:lastModifiedBy>Manoj R</cp:lastModifiedBy>
  <cp:revision>57</cp:revision>
  <dcterms:created xsi:type="dcterms:W3CDTF">2024-03-24T13:13:17Z</dcterms:created>
  <dcterms:modified xsi:type="dcterms:W3CDTF">2025-11-18T18:57:53Z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2024-03-24T00:00:00Z</vt:filetime>
  </property>
  <property fmtid="{D5CDD505-2E9C-101B-9397-08002B2CF9AE}" pid="5" name="Producer">
    <vt:lpwstr>Adobe PDF Library 23.8.234</vt:lpwstr>
  </property>
</Properties>
</file>